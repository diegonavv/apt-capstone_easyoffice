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69" r:id="rId3"/>
    <p:sldId id="258" r:id="rId4"/>
    <p:sldId id="259" r:id="rId5"/>
    <p:sldId id="270" r:id="rId6"/>
    <p:sldId id="260" r:id="rId7"/>
    <p:sldId id="262" r:id="rId8"/>
    <p:sldId id="272" r:id="rId9"/>
    <p:sldId id="257" r:id="rId10"/>
    <p:sldId id="263" r:id="rId11"/>
    <p:sldId id="266" r:id="rId12"/>
    <p:sldId id="271" r:id="rId13"/>
    <p:sldId id="267" r:id="rId14"/>
    <p:sldId id="26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>
        <p:scale>
          <a:sx n="100" d="100"/>
          <a:sy n="100" d="100"/>
        </p:scale>
        <p:origin x="95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40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>
          <a:gsLst>
            <a:gs pos="0">
              <a:schemeClr val="accent1">
                <a:lumMod val="75000"/>
              </a:schemeClr>
            </a:gs>
            <a:gs pos="77000">
              <a:srgbClr val="102A44"/>
            </a:gs>
            <a:gs pos="100000">
              <a:srgbClr val="0C334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35294" b="17647"/>
          <a:stretch>
            <a:fillRect/>
          </a:stretch>
        </p:blipFill>
        <p:spPr>
          <a:xfrm>
            <a:off x="579120" y="502920"/>
            <a:ext cx="1554480" cy="7315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0" y="502920"/>
            <a:ext cx="1188720" cy="88696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kern="0" spc="300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CAPSTONE</a:t>
            </a:r>
            <a:endParaRPr lang="es-MX" sz="1600" noProof="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26974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5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Easy Office</a:t>
            </a:r>
            <a:endParaRPr lang="es-MX" sz="5400" noProof="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3794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800" i="1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hoy para escalar mañana</a:t>
            </a:r>
            <a:endParaRPr lang="es-MX" sz="1800" noProof="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5120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Navarrete</a:t>
            </a:r>
            <a:endParaRPr lang="es-MX" sz="1500" noProof="0" dirty="0"/>
          </a:p>
          <a:p>
            <a:pPr marL="0" indent="0">
              <a:buNone/>
            </a:pPr>
            <a:r>
              <a:rPr lang="es-MX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Fernández</a:t>
            </a:r>
            <a:endParaRPr lang="es-MX" sz="1500" noProof="0" dirty="0"/>
          </a:p>
          <a:p>
            <a:pPr marL="0" indent="0">
              <a:buNone/>
            </a:pPr>
            <a:r>
              <a:rPr lang="es-MX" sz="15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Dunkan Hernández</a:t>
            </a:r>
            <a:endParaRPr lang="es-MX" sz="1500" noProof="0" dirty="0"/>
          </a:p>
        </p:txBody>
      </p:sp>
      <p:sp>
        <p:nvSpPr>
          <p:cNvPr id="8" name="Text 4"/>
          <p:cNvSpPr txBox="1"/>
          <p:nvPr/>
        </p:nvSpPr>
        <p:spPr>
          <a:xfrm>
            <a:off x="6858000" y="5120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13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Fabián Alcántara Guajardo</a:t>
            </a:r>
            <a:endParaRPr lang="es-MX" sz="1300" noProof="0" dirty="0"/>
          </a:p>
          <a:p>
            <a:pPr marL="0" indent="0" algn="r">
              <a:buNone/>
            </a:pPr>
            <a:r>
              <a:rPr lang="es-MX" sz="13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Sede San Bernardo</a:t>
            </a:r>
            <a:endParaRPr lang="es-MX" sz="1300" noProof="0" dirty="0"/>
          </a:p>
          <a:p>
            <a:pPr marL="0" indent="0" algn="r">
              <a:buNone/>
            </a:pPr>
            <a:r>
              <a:rPr lang="es-MX" sz="13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s-MX" sz="1300" noProof="0" dirty="0"/>
          </a:p>
        </p:txBody>
      </p:sp>
    </p:spTree>
    <p:extLst>
      <p:ext uri="{BB962C8B-B14F-4D97-AF65-F5344CB8AC3E}">
        <p14:creationId xmlns:p14="http://schemas.microsoft.com/office/powerpoint/2010/main" val="3952193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¿Por qué este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0" i="0" noProof="0" dirty="0">
                <a:solidFill>
                  <a:srgbClr val="5B5B5B"/>
                </a:solidFill>
                <a:latin typeface="Calibri"/>
              </a:rPr>
              <a:t>Relevancia, competencias y motivación profesional del equipo.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20440" cy="502920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Oval 4"/>
          <p:cNvSpPr/>
          <p:nvPr/>
        </p:nvSpPr>
        <p:spPr>
          <a:xfrm>
            <a:off x="1889760" y="164592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1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noProof="0" dirty="0">
                <a:solidFill>
                  <a:srgbClr val="1A1A1A"/>
                </a:solidFill>
                <a:latin typeface="Calibri"/>
              </a:rPr>
              <a:t>Relevancia laboral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3063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Un CRM que automatiza documentos y firma electrónica es exactamente el tipo de proyecto que hoy piden empresas de servicios profesionales, contables y legales que buscan digitalizarse. Da experiencia real en levantamiento con cliente, integración de </a:t>
            </a:r>
            <a:r>
              <a:rPr lang="es-MX" sz="1100" b="0" i="0" noProof="0" dirty="0" err="1">
                <a:solidFill>
                  <a:srgbClr val="5B5B5B"/>
                </a:solidFill>
                <a:latin typeface="Calibri"/>
              </a:rPr>
              <a:t>APIs</a:t>
            </a:r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 externas y diseño de sistemas para pymes.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780" y="1463040"/>
            <a:ext cx="3520440" cy="507492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Oval 8"/>
          <p:cNvSpPr/>
          <p:nvPr/>
        </p:nvSpPr>
        <p:spPr>
          <a:xfrm>
            <a:off x="5692140" y="1649541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08715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noProof="0" dirty="0">
                <a:solidFill>
                  <a:srgbClr val="1A1A1A"/>
                </a:solidFill>
                <a:latin typeface="Calibri"/>
              </a:rPr>
              <a:t>Competencias del perfil de egreso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20440"/>
            <a:ext cx="306324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Ingeniería de requisitos, aplicada en el levantamiento con Easy Office. Diseño y generación de soluciones de software, en la arquitectura del CRM. Bases de datos, en el modelo de clientes y trámites. Evaluación y gestión de proyectos, en la planificación de los Sprint.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39"/>
            <a:ext cx="3520440" cy="5074919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Oval 12"/>
          <p:cNvSpPr/>
          <p:nvPr/>
        </p:nvSpPr>
        <p:spPr>
          <a:xfrm>
            <a:off x="9608820" y="1649541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3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58200" y="252184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i="0" noProof="0" dirty="0">
                <a:solidFill>
                  <a:srgbClr val="1A1A1A"/>
                </a:solidFill>
                <a:latin typeface="Calibri"/>
              </a:rPr>
              <a:t>Intereses profesionales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4995" y="2962855"/>
            <a:ext cx="306324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100" b="0" i="0" noProof="0" dirty="0">
                <a:solidFill>
                  <a:srgbClr val="5B5B5B"/>
                </a:solidFill>
                <a:latin typeface="Calibri"/>
              </a:rPr>
              <a:t>Diego: Me interesa el desarrollo de software y la automatización de procesos, más que liderar o coordinar personas. En este proyecto me tocó asumir el rol de contacto con el cliente, lo que fue un desafío distinto a lo que naturalmente disfruto hacer.
Andrés: Me motivan el análisis de requisitos y la gestión de proyectos y calidad; lidero el levantamiento con Easy Office y valido que la solución cumpla lo acordado con el cliente.
Dunkan: Me interesa desarrollar soluciones, optimizaciones y automatizaciones para diversas problemáticas que se presenten en el día a día laboral y disfruto de transformar datos dispersos en modelos claros y consultables, optimizando el funcionamiento, almacenamiento y rendimiento para así generar valor real a partir de decisiones informadas.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es Easy Office?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92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MX" sz="14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emprendimiento y red de oficinas equipadas que provee servicios digitales para la creación, activación y operación de trámites y emprendimientos 100% digitales: domicilio tributario, contabilidad, firmas electrónicas y creación de empresas.</a:t>
            </a:r>
            <a:endParaRPr lang="es-MX" sz="145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Matriz: Región de Valparaíso  ·  Sucursal: Región Metropolitana</a:t>
            </a:r>
            <a:endParaRPr lang="es-MX" sz="1200" noProof="0" dirty="0"/>
          </a:p>
          <a:p>
            <a:pPr marL="0" indent="0">
              <a:buNone/>
            </a:pPr>
            <a:r>
              <a:rPr lang="es-MX" sz="120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easyoffice.cl</a:t>
            </a:r>
            <a:endParaRPr lang="es-MX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7406640" y="11887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3258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noProof="0" dirty="0">
                <a:solidFill>
                  <a:srgbClr val="1FA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5.000+</a:t>
            </a:r>
            <a:endParaRPr lang="es-MX" sz="4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601200" y="13258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Emprendimientos</a:t>
            </a:r>
            <a:endParaRPr lang="es-MX" sz="1300" noProof="0" dirty="0"/>
          </a:p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exitosos</a:t>
            </a:r>
            <a:endParaRPr lang="es-MX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7406640" y="3017520"/>
            <a:ext cx="4206240" cy="1554480"/>
          </a:xfrm>
          <a:prstGeom prst="roundRect">
            <a:avLst>
              <a:gd name="adj" fmla="val 5882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15468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4000" b="1" noProof="0" dirty="0">
                <a:solidFill>
                  <a:srgbClr val="1FA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s-MX" sz="40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31546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</a:t>
            </a:r>
            <a:endParaRPr lang="es-MX" sz="1300" noProof="0" dirty="0"/>
          </a:p>
          <a:p>
            <a:pPr marL="0" indent="0">
              <a:buNone/>
            </a:pPr>
            <a:r>
              <a:rPr lang="es-MX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s-MX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Servicios: domicilio tributario · contabilidad y tributaria · firmas electrónicas · creación de empresas · rebaja tributaria</a:t>
            </a:r>
            <a:endParaRPr lang="es-MX" sz="13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operación 100% manual</a:t>
            </a:r>
            <a:endParaRPr lang="es-MX" sz="32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Shape 2"/>
          <p:cNvSpPr/>
          <p:nvPr/>
        </p:nvSpPr>
        <p:spPr>
          <a:xfrm>
            <a:off x="157734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15773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MX" sz="2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s-MX" sz="14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y seguimiento se gestionan por WhatsApp, sin flujo digital único.</a:t>
            </a:r>
            <a:endParaRPr lang="es-MX" sz="1150" noProof="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7"/>
          <p:cNvSpPr/>
          <p:nvPr/>
        </p:nvSpPr>
        <p:spPr>
          <a:xfrm>
            <a:off x="450342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450342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MX" sz="20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endParaRPr lang="es-MX" sz="1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registro de qué ejecutivo realizó qué acción ni cuándo.</a:t>
            </a:r>
            <a:endParaRPr lang="es-MX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pPr algn="ctr"/>
            <a:endParaRPr lang="es-MX" dirty="0">
              <a:solidFill>
                <a:srgbClr val="D6009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950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74295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20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seguridad en los datos</a:t>
            </a:r>
            <a:endParaRPr lang="es-MX" sz="14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clientes sin control de acceso ni respaldo centralizado.</a:t>
            </a:r>
            <a:endParaRPr lang="es-MX" sz="1150" noProof="0" dirty="0"/>
          </a:p>
        </p:txBody>
      </p:sp>
      <p:sp>
        <p:nvSpPr>
          <p:cNvPr id="18" name="Shape 16"/>
          <p:cNvSpPr/>
          <p:nvPr/>
        </p:nvSpPr>
        <p:spPr>
          <a:xfrm>
            <a:off x="9326880" y="155448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FBEAF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Shape 17"/>
          <p:cNvSpPr/>
          <p:nvPr/>
        </p:nvSpPr>
        <p:spPr>
          <a:xfrm>
            <a:off x="10355580" y="1828800"/>
            <a:ext cx="640080" cy="640080"/>
          </a:xfrm>
          <a:prstGeom prst="ellipse">
            <a:avLst/>
          </a:prstGeom>
          <a:solidFill>
            <a:srgbClr val="D4537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1035558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MX" sz="20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9509760" y="26517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72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venta manual</a:t>
            </a:r>
            <a:endParaRPr lang="es-MX" sz="14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329184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cobro y firma poco integrados; limita la escalabilidad.</a:t>
            </a:r>
            <a:endParaRPr lang="es-MX" sz="115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198524" y="2743200"/>
            <a:ext cx="2059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400" b="1" dirty="0">
                <a:solidFill>
                  <a:srgbClr val="D60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400" dirty="0">
              <a:solidFill>
                <a:srgbClr val="D60093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MX" sz="900" noProof="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4DFB8E1-E375-EA9C-A3C5-757E9067DD09}"/>
              </a:ext>
            </a:extLst>
          </p:cNvPr>
          <p:cNvSpPr txBox="1"/>
          <p:nvPr/>
        </p:nvSpPr>
        <p:spPr>
          <a:xfrm>
            <a:off x="3246120" y="2893963"/>
            <a:ext cx="228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D60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>
              <a:solidFill>
                <a:srgbClr val="D60093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FE7A15E-29D2-72A8-3D1A-BB8E8A05EC7E}"/>
              </a:ext>
            </a:extLst>
          </p:cNvPr>
          <p:cNvSpPr txBox="1"/>
          <p:nvPr/>
        </p:nvSpPr>
        <p:spPr>
          <a:xfrm>
            <a:off x="9121140" y="2893963"/>
            <a:ext cx="205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D600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>
              <a:solidFill>
                <a:srgbClr val="D60093"/>
              </a:solidFill>
            </a:endParaRPr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01C588F5-B792-D4BE-FBF9-74B6F4FC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658627"/>
            <a:ext cx="11673840" cy="3297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MVP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 junto al cliente: el contrato y la autorización de domicilio tributario son los procesos de mayor flujo.</a:t>
            </a:r>
            <a:endParaRPr lang="es-MX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691639"/>
            <a:ext cx="11338560" cy="4644505"/>
          </a:xfrm>
          <a:prstGeom prst="roundRect">
            <a:avLst>
              <a:gd name="adj" fmla="val 2273"/>
            </a:avLst>
          </a:prstGeom>
          <a:solidFill>
            <a:srgbClr val="EAF3D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822959" y="1874520"/>
            <a:ext cx="910613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MVP</a:t>
            </a:r>
            <a:endParaRPr lang="es-MX" sz="16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Módulo de clientes centralizado</a:t>
            </a:r>
            <a:endParaRPr lang="es-MX" sz="13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Contrato + autorización de domicilio tributario automatizados</a:t>
            </a:r>
            <a:endParaRPr lang="es-MX" sz="13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Firma electrónica integrada</a:t>
            </a:r>
            <a:endParaRPr lang="es-MX" sz="13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069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Trazabilidad de ejecutivo</a:t>
            </a:r>
            <a:endParaRPr lang="es-MX" sz="13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17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Roles y permisos (</a:t>
            </a:r>
            <a:r>
              <a:rPr lang="es-MX" sz="1300" noProof="0" dirty="0" err="1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operador)</a:t>
            </a:r>
            <a:endParaRPr lang="es-MX" sz="13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275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Despliegue en servidor local (Docker)</a:t>
            </a:r>
            <a:endParaRPr lang="es-MX" sz="13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55708650-8F5F-2341-EB76-0884E5380E04}"/>
              </a:ext>
            </a:extLst>
          </p:cNvPr>
          <p:cNvSpPr/>
          <p:nvPr/>
        </p:nvSpPr>
        <p:spPr>
          <a:xfrm>
            <a:off x="502920" y="2401500"/>
            <a:ext cx="11064240" cy="3776472"/>
          </a:xfrm>
          <a:prstGeom prst="roundRect">
            <a:avLst>
              <a:gd name="adj" fmla="val 8696"/>
            </a:avLst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s-MX" b="1" noProof="0" dirty="0">
              <a:solidFill>
                <a:schemeClr val="bg1"/>
              </a:solidFill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s-MX" sz="32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13233B"/>
          </a:solidFill>
          <a:ln/>
        </p:spPr>
        <p:txBody>
          <a:bodyPr/>
          <a:lstStyle/>
          <a:p>
            <a:r>
              <a:rPr lang="es-MX" noProof="0" dirty="0"/>
              <a:t>      </a:t>
            </a:r>
            <a:r>
              <a:rPr lang="es-MX" sz="2000" b="1" noProof="0" dirty="0">
                <a:solidFill>
                  <a:schemeClr val="bg1"/>
                </a:solidFill>
              </a:rPr>
              <a:t>Objetivo General</a:t>
            </a:r>
            <a:endParaRPr lang="es-MX" b="1" noProof="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68680" y="13947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ecosistema digital (CRM) que centralice la gestión de clientes de Easy Office y automatice la venta, la generación y firma electrónica de documentos, y el seguimiento operativo.</a:t>
            </a:r>
            <a:endParaRPr lang="es-MX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594360" y="3041580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8613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tiempo de generación y firma de los documentos priorizados frente al proceso manual actual.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3699948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445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con información de clientes centralizada, trazable y accesible para todo el equipo operativo.</a:t>
            </a:r>
          </a:p>
        </p:txBody>
      </p:sp>
      <p:sp>
        <p:nvSpPr>
          <p:cNvPr id="9" name="Shape 7"/>
          <p:cNvSpPr/>
          <p:nvPr/>
        </p:nvSpPr>
        <p:spPr>
          <a:xfrm>
            <a:off x="594360" y="4358316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20286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la trazabilidad de cada gestión realizada por los ejecutivos.</a:t>
            </a:r>
          </a:p>
        </p:txBody>
      </p:sp>
      <p:sp>
        <p:nvSpPr>
          <p:cNvPr id="11" name="Shape 9"/>
          <p:cNvSpPr/>
          <p:nvPr/>
        </p:nvSpPr>
        <p:spPr>
          <a:xfrm>
            <a:off x="594360" y="5016684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861236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Resguardar la seguridad de la información mediante acceso diferenciado según el rol del usuario.</a:t>
            </a:r>
          </a:p>
        </p:txBody>
      </p:sp>
      <p:sp>
        <p:nvSpPr>
          <p:cNvPr id="13" name="Shape 11"/>
          <p:cNvSpPr/>
          <p:nvPr/>
        </p:nvSpPr>
        <p:spPr>
          <a:xfrm>
            <a:off x="594360" y="5675052"/>
            <a:ext cx="164592" cy="164592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519604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5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propuesta de solución mediante un MVP funcional evaluado junto al cliente.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MX" sz="900" noProof="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35B4A864-8A8B-3C94-DAF7-FE73D52314BC}"/>
              </a:ext>
            </a:extLst>
          </p:cNvPr>
          <p:cNvSpPr txBox="1"/>
          <p:nvPr/>
        </p:nvSpPr>
        <p:spPr>
          <a:xfrm>
            <a:off x="868680" y="2360592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b="1" noProof="0" dirty="0"/>
              <a:t>Objetivos Específicos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 inicial: flujo de compra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clic a la entrega del documento firmado, en 5 pasos.</a:t>
            </a:r>
            <a:endParaRPr lang="es-MX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28800" cy="268131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1239012" y="1737360"/>
            <a:ext cx="544387" cy="504718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1239012" y="1737360"/>
            <a:ext cx="544387" cy="50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MX" sz="2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157361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s-MX" sz="135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17520"/>
            <a:ext cx="1522582" cy="1182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elige el servicio</a:t>
            </a:r>
            <a:endParaRPr lang="es-MX" sz="105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697480"/>
            <a:ext cx="23816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10" name="Shape 8"/>
          <p:cNvSpPr/>
          <p:nvPr/>
        </p:nvSpPr>
        <p:spPr>
          <a:xfrm>
            <a:off x="2770632" y="1508760"/>
            <a:ext cx="1828800" cy="268131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3461004" y="1737360"/>
            <a:ext cx="544387" cy="504718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461004" y="1737360"/>
            <a:ext cx="544387" cy="50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MX" sz="20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2907792" y="2514600"/>
            <a:ext cx="157361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datos</a:t>
            </a:r>
            <a:endParaRPr lang="es-MX" sz="135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017520"/>
            <a:ext cx="1522582" cy="1182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RUT, correo, teléfono</a:t>
            </a:r>
            <a:endParaRPr lang="es-MX" sz="105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2697480"/>
            <a:ext cx="23816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16" name="Shape 14"/>
          <p:cNvSpPr/>
          <p:nvPr/>
        </p:nvSpPr>
        <p:spPr>
          <a:xfrm>
            <a:off x="4992624" y="1508760"/>
            <a:ext cx="1828800" cy="268131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Shape 15"/>
          <p:cNvSpPr/>
          <p:nvPr/>
        </p:nvSpPr>
        <p:spPr>
          <a:xfrm>
            <a:off x="5682996" y="1737360"/>
            <a:ext cx="544387" cy="504718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5682996" y="1737360"/>
            <a:ext cx="544387" cy="50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MX" sz="20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5129784" y="2514600"/>
            <a:ext cx="157361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Pagar</a:t>
            </a:r>
            <a:endParaRPr lang="es-MX" sz="135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5157216" y="3017520"/>
            <a:ext cx="1522582" cy="1182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línea seguro</a:t>
            </a:r>
            <a:endParaRPr lang="es-MX" sz="105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2697480"/>
            <a:ext cx="23816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22" name="Shape 20"/>
          <p:cNvSpPr/>
          <p:nvPr/>
        </p:nvSpPr>
        <p:spPr>
          <a:xfrm>
            <a:off x="7214616" y="1508760"/>
            <a:ext cx="1828800" cy="268131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Shape 21"/>
          <p:cNvSpPr/>
          <p:nvPr/>
        </p:nvSpPr>
        <p:spPr>
          <a:xfrm>
            <a:off x="7904988" y="1737360"/>
            <a:ext cx="544387" cy="504718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7904988" y="1737360"/>
            <a:ext cx="544387" cy="50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MX" sz="20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2514600"/>
            <a:ext cx="157361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documento</a:t>
            </a:r>
            <a:endParaRPr lang="es-MX" sz="135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7379208" y="3017520"/>
            <a:ext cx="1522582" cy="1182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/ autorización generados automáticamente</a:t>
            </a:r>
            <a:endParaRPr lang="es-MX" sz="105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9180576" y="2697480"/>
            <a:ext cx="23816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FA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MX" sz="1600" noProof="0" dirty="0"/>
          </a:p>
        </p:txBody>
      </p:sp>
      <p:sp>
        <p:nvSpPr>
          <p:cNvPr id="28" name="Shape 26"/>
          <p:cNvSpPr/>
          <p:nvPr/>
        </p:nvSpPr>
        <p:spPr>
          <a:xfrm>
            <a:off x="9436608" y="1508760"/>
            <a:ext cx="1828800" cy="268131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Shape 27"/>
          <p:cNvSpPr/>
          <p:nvPr/>
        </p:nvSpPr>
        <p:spPr>
          <a:xfrm>
            <a:off x="10126980" y="1737360"/>
            <a:ext cx="544387" cy="504718"/>
          </a:xfrm>
          <a:prstGeom prst="ellipse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10126980" y="1737360"/>
            <a:ext cx="544387" cy="5047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MX" sz="2000" noProof="0" dirty="0"/>
          </a:p>
        </p:txBody>
      </p:sp>
      <p:sp>
        <p:nvSpPr>
          <p:cNvPr id="31" name="Text 29"/>
          <p:cNvSpPr txBox="1"/>
          <p:nvPr/>
        </p:nvSpPr>
        <p:spPr>
          <a:xfrm>
            <a:off x="9573768" y="2514600"/>
            <a:ext cx="1573619" cy="394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5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firmado</a:t>
            </a:r>
            <a:endParaRPr lang="es-MX" sz="1350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017520"/>
            <a:ext cx="1522582" cy="11829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5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electrónica y entrega inmediata</a:t>
            </a:r>
            <a:endParaRPr lang="es-MX" sz="1050" noProof="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5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confirmada por el cliente: contrato + autorización de domicilio tributario (mayor flujo).</a:t>
            </a:r>
            <a:endParaRPr lang="es-MX" sz="1250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MX" sz="900" noProof="0" dirty="0"/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335FE113-7474-54D1-9F51-B9E21A655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13076"/>
            <a:ext cx="10716768" cy="25621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procesos: flujo de compra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Actores, actividades, decisiones y flujo de información del clic a la entrega del documento firmado.</a:t>
            </a:r>
            <a:endParaRPr lang="es-MX" sz="1400" noProof="0" dirty="0"/>
          </a:p>
        </p:txBody>
      </p:sp>
      <p:pic>
        <p:nvPicPr>
          <p:cNvPr id="40" name="Diagrama flujo de negocio" descr="Diagrama de procesos de negocio del flujo de comp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800" y="1508760"/>
            <a:ext cx="8808400" cy="3800000"/>
          </a:xfrm>
          <a:prstGeom prst="rect">
            <a:avLst/>
          </a:prstGeom>
        </p:spPr>
      </p:pic>
      <p:sp>
        <p:nvSpPr>
          <p:cNvPr id="33" name="Text 31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50" i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confirmada por el cliente: contrato + autorización de domicilio tributario (mayor flujo).</a:t>
            </a:r>
            <a:endParaRPr lang="es-MX" sz="1250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5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Trabajamos con Scrum: entregas incrementales cada sprint, validadas directamente con el cliente.</a:t>
            </a:r>
            <a:endParaRPr lang="es-MX" sz="15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pic>
        <p:nvPicPr>
          <p:cNvPr id="19" name="Image Diego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2240280"/>
            <a:ext cx="914400" cy="914400"/>
          </a:xfrm>
          <a:prstGeom prst="rect">
            <a:avLst/>
          </a:prstGeom>
        </p:spPr>
      </p:pic>
      <p:sp>
        <p:nvSpPr>
          <p:cNvPr id="7" name="Text 5"/>
          <p:cNvSpPr txBox="1"/>
          <p:nvPr/>
        </p:nvSpPr>
        <p:spPr>
          <a:xfrm>
            <a:off x="77724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Navarrete</a:t>
            </a:r>
            <a:endParaRPr lang="es-MX" sz="16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s-MX" sz="1250" noProof="0" dirty="0"/>
          </a:p>
          <a:p>
            <a:pPr marL="0" indent="0" algn="ctr">
              <a:buNone/>
            </a:pPr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s-MX" sz="1250" b="1" noProof="0" dirty="0" err="1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s-MX" sz="125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el valor del producto; definir y comunicar el </a:t>
            </a:r>
            <a:r>
              <a:rPr lang="es-MX" sz="110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10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crear, ordenar y mantener claro el </a:t>
            </a:r>
            <a:r>
              <a:rPr lang="es-MX" sz="110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Backlog; representar las necesidades de usuarios y stakeholders y punto de contacto con el cliente.</a:t>
            </a:r>
          </a:p>
          <a:p>
            <a:pPr algn="ctr"/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s-MX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140" y="2240280"/>
            <a:ext cx="914400" cy="9144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61772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Fernández</a:t>
            </a:r>
            <a:endParaRPr lang="es-MX" sz="1600" noProof="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3703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5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</a:p>
          <a:p>
            <a:pPr algn="ctr"/>
            <a:r>
              <a:rPr lang="es-MX" sz="1250" b="1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s-MX" sz="1250" b="1" dirty="0" err="1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s-MX" sz="1250" noProof="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4343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Asegurar que Scrum se entienda y se aplique correctamente; ayudar a mejorar la efectividad del equipo; facilitar los eventos; eliminar impedimentos; promover la autogestión y la mejora continua.</a:t>
            </a:r>
            <a:endParaRPr lang="es-MX" sz="1100" noProof="0" dirty="0"/>
          </a:p>
        </p:txBody>
      </p:sp>
      <p:sp>
        <p:nvSpPr>
          <p:cNvPr id="15" name="Shape 12"/>
          <p:cNvSpPr/>
          <p:nvPr/>
        </p:nvSpPr>
        <p:spPr>
          <a:xfrm>
            <a:off x="822960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4E4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 noProof="0" dirty="0"/>
          </a:p>
        </p:txBody>
      </p:sp>
      <p:pic>
        <p:nvPicPr>
          <p:cNvPr id="18" name="Image Duncan" descr="dunc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620" y="2240280"/>
            <a:ext cx="914400" cy="914400"/>
          </a:xfrm>
          <a:prstGeom prst="rect">
            <a:avLst/>
          </a:prstGeom>
        </p:spPr>
      </p:pic>
      <p:sp>
        <p:nvSpPr>
          <p:cNvPr id="16" name="Text 15"/>
          <p:cNvSpPr txBox="1"/>
          <p:nvPr/>
        </p:nvSpPr>
        <p:spPr>
          <a:xfrm>
            <a:off x="845820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b="1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Dunkan Hernández</a:t>
            </a:r>
            <a:endParaRPr lang="es-MX" sz="1600" noProof="0" dirty="0"/>
          </a:p>
        </p:txBody>
      </p:sp>
      <p:sp>
        <p:nvSpPr>
          <p:cNvPr id="5" name="Text 16"/>
          <p:cNvSpPr txBox="1"/>
          <p:nvPr/>
        </p:nvSpPr>
        <p:spPr>
          <a:xfrm>
            <a:off x="8458200" y="3703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250" b="1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</a:t>
            </a:r>
            <a:r>
              <a:rPr lang="es-MX" sz="1250" b="1" dirty="0" err="1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s-MX" sz="1250" noProof="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3434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 el Sprint; decidir cómo realizar el trabajo; crear un Incremento usable; mantener la calidad; cumplir la </a:t>
            </a:r>
            <a:r>
              <a:rPr lang="es-MX" sz="110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MX" sz="110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  <a:r>
              <a:rPr lang="es-MX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Done; adaptar el plan diariamente.</a:t>
            </a:r>
            <a:endParaRPr lang="es-MX" sz="1100" noProof="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3200" b="1" noProof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s-MX" sz="32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del período académico, organizadas en 3 fases y 4 </a:t>
            </a:r>
            <a:r>
              <a:rPr lang="es-MX" sz="14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r>
              <a:rPr lang="es-MX" sz="14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desarrollo.</a:t>
            </a:r>
            <a:endParaRPr lang="es-MX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458720" cy="822960"/>
          </a:xfrm>
          <a:prstGeom prst="rect">
            <a:avLst/>
          </a:prstGeom>
          <a:solidFill>
            <a:srgbClr val="97C45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27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Definición</a:t>
            </a:r>
            <a:endParaRPr lang="es-MX" sz="12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227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– S4</a:t>
            </a:r>
            <a:endParaRPr lang="es-MX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007360" y="2194560"/>
            <a:ext cx="7376160" cy="822960"/>
          </a:xfrm>
          <a:prstGeom prst="rect">
            <a:avLst/>
          </a:prstGeom>
          <a:solidFill>
            <a:srgbClr val="1FAA4E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3098800" y="2240280"/>
            <a:ext cx="719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Desarrollo (4 </a:t>
            </a:r>
            <a:r>
              <a:rPr lang="es-MX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</a:t>
            </a: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MX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3098800" y="2606040"/>
            <a:ext cx="719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– S16</a:t>
            </a:r>
            <a:endParaRPr lang="es-MX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10383520" y="2194560"/>
            <a:ext cx="1229360" cy="82296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10474960" y="2240280"/>
            <a:ext cx="104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Cierre</a:t>
            </a:r>
            <a:endParaRPr lang="es-MX" sz="12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10474960" y="2606040"/>
            <a:ext cx="104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– S18</a:t>
            </a:r>
            <a:endParaRPr lang="es-MX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s-MX" sz="1400" noProof="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S5–S7</a:t>
            </a:r>
            <a:endParaRPr lang="es-MX" sz="1100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+ clientes + </a:t>
            </a:r>
            <a:r>
              <a:rPr lang="es-MX" sz="1200" noProof="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MX" sz="1200" noProof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</a:t>
            </a:r>
          </a:p>
          <a:p>
            <a:pPr marL="0" indent="0">
              <a:buNone/>
            </a:pPr>
            <a:r>
              <a:rPr lang="es-MX" sz="1000" b="1" noProof="0">
                <a:solidFill>
                  <a:srgbClr val="0E7A34"/>
                </a:solidFill>
                <a:latin typeface="Calibri"/>
              </a:rPr>
              <a:t>Hito</a:t>
            </a: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: base de datos de clientes operativa.</a:t>
            </a:r>
          </a:p>
        </p:txBody>
      </p:sp>
      <p:sp>
        <p:nvSpPr>
          <p:cNvPr id="17" name="Shape 15"/>
          <p:cNvSpPr/>
          <p:nvPr/>
        </p:nvSpPr>
        <p:spPr>
          <a:xfrm>
            <a:off x="338328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s-MX" sz="14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S8–S10</a:t>
            </a:r>
            <a:endParaRPr lang="es-MX" sz="1100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+ firma electrónica</a:t>
            </a:r>
            <a:endParaRPr lang="es-MX" sz="1200" noProof="0" dirty="0"/>
          </a:p>
          <a:p>
            <a:pPr>
              <a:spcBef>
                <a:spcPts val="600"/>
              </a:spcBef>
            </a:pP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Hito: contrato </a:t>
            </a:r>
            <a:r>
              <a:rPr lang="es-MX" sz="1000" b="1" noProof="0" dirty="0" err="1">
                <a:solidFill>
                  <a:srgbClr val="0E7A34"/>
                </a:solidFill>
                <a:latin typeface="Calibri"/>
              </a:rPr>
              <a:t>firmable</a:t>
            </a: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 de extremo a extremo.</a:t>
            </a:r>
          </a:p>
        </p:txBody>
      </p:sp>
      <p:sp>
        <p:nvSpPr>
          <p:cNvPr id="21" name="Shape 19"/>
          <p:cNvSpPr/>
          <p:nvPr/>
        </p:nvSpPr>
        <p:spPr>
          <a:xfrm>
            <a:off x="621792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s-MX" sz="14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S11–S13</a:t>
            </a:r>
            <a:endParaRPr lang="es-MX" sz="1100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+ roles</a:t>
            </a:r>
            <a:endParaRPr lang="es-MX" sz="1200" noProof="0" dirty="0"/>
          </a:p>
          <a:p>
            <a:pPr>
              <a:spcBef>
                <a:spcPts val="600"/>
              </a:spcBef>
            </a:pP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Hito: acceso diferenciado </a:t>
            </a:r>
            <a:r>
              <a:rPr lang="es-MX" sz="1000" b="1" noProof="0" dirty="0" err="1">
                <a:solidFill>
                  <a:srgbClr val="0E7A34"/>
                </a:solidFill>
                <a:latin typeface="Calibri"/>
              </a:rPr>
              <a:t>admin</a:t>
            </a: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/operador funcionando.</a:t>
            </a:r>
          </a:p>
        </p:txBody>
      </p:sp>
      <p:sp>
        <p:nvSpPr>
          <p:cNvPr id="25" name="Shape 23"/>
          <p:cNvSpPr/>
          <p:nvPr/>
        </p:nvSpPr>
        <p:spPr>
          <a:xfrm>
            <a:off x="9052560" y="3429000"/>
            <a:ext cx="2606040" cy="2651760"/>
          </a:xfrm>
          <a:prstGeom prst="roundRect">
            <a:avLst>
              <a:gd name="adj" fmla="val 3509"/>
            </a:avLst>
          </a:prstGeom>
          <a:solidFill>
            <a:srgbClr val="F7F7F5"/>
          </a:solidFill>
          <a:ln w="9525">
            <a:solidFill>
              <a:srgbClr val="E4E4E0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0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s-MX" sz="140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S14–S16</a:t>
            </a:r>
            <a:endParaRPr lang="es-MX" sz="11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438912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+ Docker + manual técnico</a:t>
            </a:r>
            <a:endParaRPr lang="es-MX" sz="1200" noProof="0" dirty="0"/>
          </a:p>
          <a:p>
            <a:pPr>
              <a:spcBef>
                <a:spcPts val="600"/>
              </a:spcBef>
            </a:pPr>
            <a:r>
              <a:rPr lang="es-MX" sz="1000" b="1" noProof="0" dirty="0">
                <a:solidFill>
                  <a:srgbClr val="0E7A34"/>
                </a:solidFill>
                <a:latin typeface="Calibri"/>
              </a:rPr>
              <a:t>Hito: MVP desplegado y documentado.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Easy Office · </a:t>
            </a:r>
            <a:r>
              <a:rPr lang="es-MX" sz="900" noProof="0" dirty="0" err="1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PTY4614-001V</a:t>
            </a:r>
            <a:endParaRPr lang="es-MX" sz="900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s-MX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Factibilidad y plan de recursos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0" i="0" noProof="0" dirty="0">
                <a:solidFill>
                  <a:srgbClr val="5B5B5B"/>
                </a:solidFill>
                <a:latin typeface="Calibri"/>
              </a:rPr>
              <a:t>El proyecto es viable dentro del plazo del ramo, con riesgos identificados y mitigados.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Oval 4"/>
          <p:cNvSpPr/>
          <p:nvPr/>
        </p:nvSpPr>
        <p:spPr>
          <a:xfrm>
            <a:off x="148590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1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18 semanas del período académico, alineadas con el alcance acotado del MVP (2 documentos priorizados).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Oval 8"/>
          <p:cNvSpPr/>
          <p:nvPr/>
        </p:nvSpPr>
        <p:spPr>
          <a:xfrm>
            <a:off x="427482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2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Recursos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Entorno de desarrollo, computador dedicado para despliegue local (Docker), y acceso a la plataforma de firma electrónica del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3" name="Oval 12"/>
          <p:cNvSpPr/>
          <p:nvPr/>
        </p:nvSpPr>
        <p:spPr>
          <a:xfrm>
            <a:off x="706374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3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6364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Facilitadores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Easy Office ya cuenta con proveedor de firma electrónica con integración vía API disponible, lo que reduce la incertidumbre técnica.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Oval 16"/>
          <p:cNvSpPr/>
          <p:nvPr/>
        </p:nvSpPr>
        <p:spPr>
          <a:xfrm>
            <a:off x="985266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4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Obstaculizadores y mitigación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El cliente no maneja mucha tecnología: se mitiga con reuniones bisemanales y una interfaz simple y guiada.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Innovación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500" b="0" i="0" noProof="0" dirty="0">
                <a:solidFill>
                  <a:srgbClr val="5B5B5B"/>
                </a:solidFill>
                <a:latin typeface="Calibri"/>
              </a:rPr>
              <a:t>Qué problema resuelve, qué diferencia a la solución y qué valor agrega.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5" name="Oval 4"/>
          <p:cNvSpPr/>
          <p:nvPr/>
        </p:nvSpPr>
        <p:spPr>
          <a:xfrm>
            <a:off x="148590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1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¿Qué problema resuelve?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Hoy la venta y el seguimiento de los servicios de Easy Office (domicilio tributario, firma electrónica, contabilidad) se gestionan por WhatsApp: sin flujo digital único, sin trazabilidad de qué ejecutivo hizo qué gestión, y sin una base de datos centralizada de clientes.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3202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9" name="Oval 8"/>
          <p:cNvSpPr/>
          <p:nvPr/>
        </p:nvSpPr>
        <p:spPr>
          <a:xfrm>
            <a:off x="566928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2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6918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¿Qué la hace diferente?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918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En el mercado, los proveedores de domicilio tributario o firma electrónica suelen resolver un solo trámite de forma aislada. Easy Office ya ofrece varios servicios relacionados, pero hoy los gestiona por separado y a mano vía WhatsApp. El CRM los centraliza en un mismo flujo y una misma base de datos por cliente, con trazabilidad por ejecutivo, lista para escalar a los demás trámites manuales.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920240"/>
            <a:ext cx="2606040" cy="3566160"/>
          </a:xfrm>
          <a:prstGeom prst="roundRect">
            <a:avLst>
              <a:gd name="adj" fmla="val 5000"/>
            </a:avLst>
          </a:prstGeom>
          <a:solidFill>
            <a:srgbClr val="FB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noProof="0" dirty="0"/>
          </a:p>
        </p:txBody>
      </p:sp>
      <p:sp>
        <p:nvSpPr>
          <p:cNvPr id="17" name="Oval 16"/>
          <p:cNvSpPr/>
          <p:nvPr/>
        </p:nvSpPr>
        <p:spPr>
          <a:xfrm>
            <a:off x="9852660" y="2194560"/>
            <a:ext cx="731520" cy="731520"/>
          </a:xfrm>
          <a:prstGeom prst="ellipse">
            <a:avLst/>
          </a:prstGeom>
          <a:solidFill>
            <a:srgbClr val="D45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s-MX" sz="2200" b="1" dirty="0">
                <a:solidFill>
                  <a:srgbClr val="FFFFFF"/>
                </a:solidFill>
                <a:latin typeface="Calibri"/>
              </a:rPr>
              <a:t>3</a:t>
            </a:r>
            <a:endParaRPr lang="es-MX" sz="22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300" b="1" i="0" noProof="0" dirty="0">
                <a:solidFill>
                  <a:srgbClr val="1A1A1A"/>
                </a:solidFill>
                <a:latin typeface="Calibri"/>
              </a:rPr>
              <a:t>¿Qué valor agrega?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611880"/>
            <a:ext cx="2331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050" b="0" i="0" noProof="0" dirty="0">
                <a:solidFill>
                  <a:srgbClr val="5B5B5B"/>
                </a:solidFill>
                <a:latin typeface="Calibri"/>
              </a:rPr>
              <a:t>Documento firmado en minutos en vez de gestión manual por WhatsApp; trazabilidad de cada gestión por ejecutivo; datos centralizados; y una base (roles, clientes) lista para escalar a los demás documentos que hoy son 100% manuales.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3200" b="1" i="0" noProof="0" dirty="0">
                <a:solidFill>
                  <a:srgbClr val="1A1A1A"/>
                </a:solidFill>
                <a:latin typeface="Cambria"/>
              </a:rPr>
              <a:t>Evidencias del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51560"/>
            <a:ext cx="10972800" cy="822960"/>
          </a:xfrm>
          <a:prstGeom prst="roundRect">
            <a:avLst>
              <a:gd name="adj" fmla="val 5000"/>
            </a:avLst>
          </a:prstGeom>
          <a:solidFill>
            <a:srgbClr val="1323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lang="es-MX" sz="1300" noProof="0" dirty="0">
                <a:solidFill>
                  <a:srgbClr val="FFFFFF"/>
                </a:solidFill>
                <a:latin typeface="Calibri"/>
              </a:rPr>
              <a:t>Documentos que respaldan el avance y el cierre del proyecto, exigidos por la asignatura para el enfoque ágil.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2176272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960119" y="2075688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Documento de Inicio de Proyecto - problema, objetivos, stakeholders, alcance del MVP y restricciones.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743200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60119" y="2642616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Product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Backlog priorizado - historias de usuario obtenidas del levantamiento con el cliente.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310128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960119" y="3209544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Documento de diseño - arquitectura, modelo de datos, diagramas UML y diseño Docker.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77056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960119" y="3776472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Definition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</a:t>
            </a:r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of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Done - criterios de aceptación a nivel de historia e incremento, incluyendo despliegue.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443984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960119" y="4343400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Plan de pruebas + evidencias - casos de prueba y resultados por sprint.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960119" y="4910328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Manual técnico / despliegue - instalación, Docker </a:t>
            </a:r>
            <a:r>
              <a:rPr lang="es-MX" sz="1250" b="0" i="0" noProof="0" dirty="0" err="1">
                <a:solidFill>
                  <a:srgbClr val="5B5B5B"/>
                </a:solidFill>
                <a:latin typeface="Calibri"/>
              </a:rPr>
              <a:t>Compose</a:t>
            </a:r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 y variables de entorno.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577840"/>
            <a:ext cx="164592" cy="164592"/>
          </a:xfrm>
          <a:prstGeom prst="ellipse">
            <a:avLst/>
          </a:prstGeom>
          <a:solidFill>
            <a:srgbClr val="1FA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MX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60119" y="5477256"/>
            <a:ext cx="1019556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250" b="0" i="0" noProof="0" dirty="0">
                <a:solidFill>
                  <a:srgbClr val="5B5B5B"/>
                </a:solidFill>
                <a:latin typeface="Calibri"/>
              </a:rPr>
              <a:t>Documento de cierre - incluye la sección de innovación del proyecto.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CRM Easy Office · </a:t>
            </a:r>
            <a:r>
              <a:rPr lang="es-MX" sz="900" b="0" i="0" noProof="0" dirty="0" err="1">
                <a:solidFill>
                  <a:srgbClr val="5B5B5B"/>
                </a:solidFill>
                <a:latin typeface="Calibri"/>
              </a:rPr>
              <a:t>Capstone</a:t>
            </a:r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 PTY4614-001V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900" b="0" i="0" noProof="0" dirty="0">
                <a:solidFill>
                  <a:srgbClr val="5B5B5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75000"/>
              </a:schemeClr>
            </a:gs>
            <a:gs pos="77000">
              <a:srgbClr val="102A44"/>
            </a:gs>
            <a:gs pos="100000">
              <a:srgbClr val="0C3346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914400"/>
            <a:ext cx="1828800" cy="13533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Automatizar hoy para escalar mañana</a:t>
            </a:r>
            <a:endParaRPr lang="es-MX" sz="3400" noProof="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600" i="1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su atención - preguntas y comentarios</a:t>
            </a:r>
            <a:endParaRPr lang="es-MX" sz="1600" noProof="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00" noProof="0" dirty="0">
                <a:solidFill>
                  <a:srgbClr val="C9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Navarrete · Andrés Fernández · Dunkan Hernández</a:t>
            </a:r>
            <a:endParaRPr lang="es-MX" sz="1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DCA8A9B-56FF-4541-AF96-DBEB0B103702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c26fc0c-0e9f-45c2-8b80-bdb2f27ad20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1566</Words>
  <Application>Microsoft Office PowerPoint</Application>
  <PresentationFormat>Panorámica</PresentationFormat>
  <Paragraphs>199</Paragraphs>
  <Slides>14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Diego Eduardo Navarrete Valderrama</cp:lastModifiedBy>
  <cp:revision>9</cp:revision>
  <dcterms:created xsi:type="dcterms:W3CDTF">2026-09-01T19:54:13Z</dcterms:created>
  <dcterms:modified xsi:type="dcterms:W3CDTF">2026-09-25T00:33:18Z</dcterms:modified>
</cp:coreProperties>
</file>