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al equipo brevemente. Meta de tiempo total: 10-11 minutos, dejando margen para preguntas (la retroalimentación anterior marcó 13 minutos como ajustado). Cuidar tono formal desde el primer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invitar preguntas, mantener tono formal y postura profesional durante toda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C8C"/>
                </a:solidFill>
                <a:latin typeface="Calibri"/>
              </a:rPr>
              <a:t>PROYECTO CAPSTONE  ·  PTY4614-001V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CRM Easy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9D6E0"/>
                </a:solidFill>
                <a:latin typeface="Calibri"/>
              </a:rPr>
              <a:t>Automatización documental y firma electrónica para un centro de emprendimiento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94760"/>
            <a:ext cx="1463040" cy="2794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9C8C"/>
                </a:solidFill>
                <a:latin typeface="Calibri"/>
              </a:rPr>
              <a:t>EQUIPO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Diego Navarrete   ·   Andrés Fernández   ·   Dunkan Hernández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9C8C"/>
                </a:solidFill>
                <a:latin typeface="Calibri"/>
              </a:rPr>
              <a:t>DOCENTE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Fabián Alcántara Guajardo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BBA"/>
                </a:solidFill>
                <a:latin typeface="Calibri"/>
              </a:rPr>
              <a:t>Ingeniería en Informática  ·  Sede San Bernardo  · 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Qué vamos a revisar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031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93976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9397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Cliente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Quién es Easy 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1031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093976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093976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Problema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42316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Qué se gestiona hoy a mano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9816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36976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22783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27832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Objetivos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5701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Qué resultado busca el proyecto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099816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3236976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22783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227832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Alcance del 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355701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Qué SÍ y qué NO entra ahora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233672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37083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36168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36168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Proceso de negocio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69087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Cómo se resuelve un trámite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4233672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370832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36168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361688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Arquitectura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90872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Cómo se construye la solución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367528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50468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49554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495544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Equipo y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8247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Scrum, roles y calendario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5367528"/>
            <a:ext cx="5349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5504688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9E7E2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495544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9C8C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495544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2545"/>
                </a:solidFill>
                <a:latin typeface="Calibri"/>
              </a:rPr>
              <a:t>Factibilidad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8247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26F7D"/>
                </a:solidFill>
                <a:latin typeface="Calibri"/>
              </a:rPr>
              <a:t>Riesgos, recursos e innovación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¿Quién es Easy Office?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640080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F2933"/>
                </a:solidFill>
                <a:latin typeface="Calibri"/>
              </a:rPr>
              <a:t>Centro de emprendimiento y red de oficinas equipadas que entrega servicios 100% digitales para crear, activar y operar un emprendimiento: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1F2933"/>
                </a:solidFill>
                <a:latin typeface="Calibri"/>
              </a:rPr>
              <a:t>•  Domicilio tributario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1F2933"/>
                </a:solidFill>
                <a:latin typeface="Calibri"/>
              </a:rPr>
              <a:t>•  Contabilidad y asesoría tributaria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1F2933"/>
                </a:solidFill>
                <a:latin typeface="Calibri"/>
              </a:rPr>
              <a:t>•  Firma electrónica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50">
                <a:solidFill>
                  <a:srgbClr val="1F2933"/>
                </a:solidFill>
                <a:latin typeface="Calibri"/>
              </a:rPr>
              <a:t>•  Creación de empresas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846320"/>
            <a:ext cx="5760720" cy="15240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9C8C"/>
                </a:solidFill>
                <a:latin typeface="Calibri"/>
              </a:rPr>
              <a:t>CASA MATRIZ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21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3"/>
                </a:solidFill>
                <a:latin typeface="Calibri"/>
              </a:rPr>
              <a:t>Región de Valparaíso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5074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9C8C"/>
                </a:solidFill>
                <a:latin typeface="Calibri"/>
              </a:rPr>
              <a:t>SUCURSAL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321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3"/>
                </a:solidFill>
                <a:latin typeface="Calibri"/>
              </a:rPr>
              <a:t>Región Metropolitana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828800"/>
            <a:ext cx="4462272" cy="19659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084831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9C8C"/>
                </a:solidFill>
                <a:latin typeface="Calibri"/>
              </a:rPr>
              <a:t>5.000+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6974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emprendimientos formalizados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3931920"/>
            <a:ext cx="4462272" cy="1965960"/>
          </a:xfrm>
          <a:prstGeom prst="roundRect">
            <a:avLst>
              <a:gd name="adj" fmla="val 6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418795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2545"/>
                </a:solidFill>
                <a:latin typeface="Calibri"/>
              </a:rPr>
              <a:t>15+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8006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2545"/>
                </a:solidFill>
                <a:latin typeface="Calibri"/>
              </a:rPr>
              <a:t>años de experiencia en el rubro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6035040"/>
            <a:ext cx="4462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26F7D"/>
                </a:solidFill>
                <a:latin typeface="Calibri"/>
              </a:rPr>
              <a:t>Fuente: easyoffice.cl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DIAGNÓSTICO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El problema que resolvemos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Los dos documentos de mayor volumen — contrato de prestación de servicios y autorización de domicilio tributario — se gestionan hoy de forma manual.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26974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5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Generación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Cada contrato y autorización se redacta y arma a mano, documento por documento.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25146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4992" y="2514600"/>
            <a:ext cx="26974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5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Firma fuera de flujo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93192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El envío a la plataforma de firma electrónica no está integrado al proceso: es un paso aparte.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5146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514600"/>
            <a:ext cx="26974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5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Datos dispersos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93192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No existe un repositorio único de clientes ni del historial de cada trámite.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251460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89136" y="2514600"/>
            <a:ext cx="2697480" cy="73152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7736" y="278892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07A5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342900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2545"/>
                </a:solidFill>
                <a:latin typeface="Calibri"/>
              </a:rPr>
              <a:t>Sin trazabilidad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3931920"/>
            <a:ext cx="2240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No queda registro sistemático de qué se hizo, cuándo y sobre qué trámite.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26F7D"/>
                </a:solidFill>
                <a:latin typeface="Calibri"/>
              </a:rPr>
              <a:t>Consecuencia directa: el tiempo de gestión por trámite es alto y no es posible escalar a más tipos de documento sin resolver primero estos cuatro puntos.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Objetivos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Expresados como resultados a alcanzar — no como funcionalidades del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56816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49C8C"/>
                </a:solidFill>
                <a:latin typeface="Calibri"/>
              </a:rPr>
              <a:t>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Digitalizar y automatizar la generación, firma y entrega de los documentos de mayor volumen de Easy Office, reduciendo el tiempo y los errores de la gestión manual actual.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54680"/>
            <a:ext cx="502920" cy="795528"/>
          </a:xfrm>
          <a:prstGeom prst="roundRect">
            <a:avLst>
              <a:gd name="adj" fmla="val 15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50292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154680"/>
            <a:ext cx="1056132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Reducir el tiempo de gestión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570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del contrato de prestación de servicios y la autorización de domicilio tributario, hoy 100% manuales.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41648"/>
            <a:ext cx="502920" cy="795528"/>
          </a:xfrm>
          <a:prstGeom prst="roundRect">
            <a:avLst>
              <a:gd name="adj" fmla="val 15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50292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1648"/>
            <a:ext cx="1056132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13308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Centralizar la información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439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de clientes y el historial de cada trámite en un único repositorio, sin depender de canales dispersos.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28616"/>
            <a:ext cx="502920" cy="795528"/>
          </a:xfrm>
          <a:prstGeom prst="roundRect">
            <a:avLst>
              <a:gd name="adj" fmla="val 15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28616"/>
            <a:ext cx="50292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928616"/>
            <a:ext cx="1056132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02005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Dar trazabilidad y control de acceso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309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a la operación, diferenciando lo que puede hacer un agente de lo que puede hacer un administrador.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15584"/>
            <a:ext cx="502920" cy="795528"/>
          </a:xfrm>
          <a:prstGeom prst="roundRect">
            <a:avLst>
              <a:gd name="adj" fmla="val 15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15584"/>
            <a:ext cx="502920" cy="7955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43000" y="5815584"/>
            <a:ext cx="10561320" cy="7955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90702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2545"/>
                </a:solidFill>
                <a:latin typeface="Calibri"/>
              </a:rPr>
              <a:t>Validar un MVP funcional de extremo a extremo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6217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como base para ampliar, más adelante, a los demás trámites hoy manuales.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DELIMITACIÓN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Alcance del MVP: qué SÍ y qué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Definido junto al cliente: el contrato y la autorización de domicilio tributario son los procesos de mayor flujo.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532120" cy="4434840"/>
          </a:xfrm>
          <a:prstGeom prst="roundRect">
            <a:avLst>
              <a:gd name="adj" fmla="val 4000"/>
            </a:avLst>
          </a:prstGeom>
          <a:solidFill>
            <a:srgbClr val="D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5532120" cy="566928"/>
          </a:xfrm>
          <a:prstGeom prst="roundRect">
            <a:avLst>
              <a:gd name="adj" fmla="val 4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INCLUIDO EN EL MVP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Módulo de clientes centralizado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Generación automática del contrato y la autorización de domicilio tributario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Envío e integración con la firma electrónica que ya usa Easy Office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Registro de trazabilidad por trámite (estado y fecha de cada paso)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Roles y permisos: agente / administrador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✓  Despliegue en servidor local, en contenedores Docker independientes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532120" cy="4434840"/>
          </a:xfrm>
          <a:prstGeom prst="roundRect">
            <a:avLst>
              <a:gd name="adj" fmla="val 4000"/>
            </a:avLst>
          </a:prstGeom>
          <a:solidFill>
            <a:srgbClr val="FB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874519"/>
            <a:ext cx="5532120" cy="566928"/>
          </a:xfrm>
          <a:prstGeom prst="roundRect">
            <a:avLst>
              <a:gd name="adj" fmla="val 4000"/>
            </a:avLst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9339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FUERA DE ALCANCE POR AHORA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517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→  Ampliación a los demás documentos manuales (declaraciones juradas, poderes, etc.)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→  Automatización completa de la creación de empresa (requiere revisión legal caso a caso)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→  Venta y cobranza en línea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→  Bandeja/chatbot de WhatsApp con clasificación por IA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>
                <a:solidFill>
                  <a:srgbClr val="1F2933"/>
                </a:solidFill>
                <a:latin typeface="Calibri"/>
              </a:rPr>
              <a:t>→  Migración a infraestructura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62356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C15B3E"/>
                </a:solidFill>
                <a:latin typeface="Calibri"/>
              </a:rPr>
              <a:t>Queda como proyección: se evaluará en fases posteriores, fuera del período académico actual.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MODELO DE PROCESO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Cómo se resuelve un trámite hoy y con el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Diagrama de proceso por actor: qué hace cada participante y dónde interviene el sistema.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737360" cy="1024128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28800"/>
            <a:ext cx="1554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828800"/>
            <a:ext cx="9464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52928"/>
            <a:ext cx="1737360" cy="1024128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852928"/>
            <a:ext cx="1554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2852928"/>
            <a:ext cx="9464040" cy="102412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77056"/>
            <a:ext cx="1737360" cy="10241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77056"/>
            <a:ext cx="1554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CRM Easy Office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877056"/>
            <a:ext cx="94640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901184"/>
            <a:ext cx="1737360" cy="1024128"/>
          </a:xfrm>
          <a:prstGeom prst="rect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4901184"/>
            <a:ext cx="15544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Plataforma de firma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901184"/>
            <a:ext cx="9464040" cy="1024128"/>
          </a:xfrm>
          <a:prstGeom prst="rect">
            <a:avLst/>
          </a:prstGeom>
          <a:solidFill>
            <a:srgbClr val="F7F8FA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95144" y="1920240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1975104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Solicita el trámite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6584" y="2267712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Entrega sus datos y el tipo de documento requerido.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9332" y="2340864"/>
            <a:ext cx="36576" cy="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72484" y="2944368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3924" y="2999232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Registra al cliente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3924" y="3291840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RUT, razón social, contacto y tipo de trámite en el CRM.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76672" y="3364992"/>
            <a:ext cx="36576" cy="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49824" y="3968496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4023360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Genera el documento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1264" y="4315968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El sistema arma el contrato o la autorización desde los datos registrados.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54012" y="4389120"/>
            <a:ext cx="36576" cy="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27164" y="3968496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8604" y="4023360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Envía a firma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8604" y="4315968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El documento generado se envía automáticamente a la plataforma de firma.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31352" y="4389120"/>
            <a:ext cx="36576" cy="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604504" y="4992624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95944" y="5047488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Firma electrónica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5944" y="5340096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El cliente y/o Easy Office firman en la plataforma ya contratada.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108692" y="5413248"/>
            <a:ext cx="36576" cy="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181844" y="3968496"/>
            <a:ext cx="146761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73284" y="4023360"/>
            <a:ext cx="12847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0B2545"/>
                </a:solidFill>
                <a:latin typeface="Calibri"/>
              </a:rPr>
              <a:t>Registra el estado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3284" y="4315968"/>
            <a:ext cx="12847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El CRM recibe la confirmación y deja trazabilidad del trámite firmado.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06290" y="3785616"/>
            <a:ext cx="0" cy="18288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60970" y="4809744"/>
            <a:ext cx="0" cy="182880"/>
          </a:xfrm>
          <a:prstGeom prst="line">
            <a:avLst/>
          </a:prstGeom>
          <a:ln w="1905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338310" y="4882896"/>
            <a:ext cx="0" cy="18288"/>
          </a:xfrm>
          <a:prstGeom prst="line">
            <a:avLst/>
          </a:prstGeom>
          <a:ln w="12700">
            <a:solidFill>
              <a:srgbClr val="14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26F7D"/>
                </a:solidFill>
                <a:latin typeface="Calibri"/>
              </a:rPr>
              <a:t>Prioridad confirmada con el cliente: contrato de prestación de servicios + autorización de domicilio tributario (los de mayor flujo mensual).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Arquitectura de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Cuatro responsabilidades, cuatro contenedores Docker independientes: una falla en uno no derriba a los demás.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0" y="1965960"/>
            <a:ext cx="210312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626F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96596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933"/>
                </a:solidFill>
                <a:latin typeface="Calibri"/>
              </a:rPr>
              <a:t>Navegador (agente / admin)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514600"/>
            <a:ext cx="0" cy="320040"/>
          </a:xfrm>
          <a:prstGeom prst="line">
            <a:avLst/>
          </a:prstGeom>
          <a:ln w="15875">
            <a:solidFill>
              <a:srgbClr val="626F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63640" y="25146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HTTPS · 443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599" y="2834640"/>
            <a:ext cx="256032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0599" y="2834640"/>
            <a:ext cx="2560320" cy="310896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599" y="283464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CONTENEDOR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21868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Proxy inverso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35204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Nginx · punto único de entrada, TLS y ruteo hacia frontend/API.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474720" y="3840480"/>
            <a:ext cx="2606040" cy="228600"/>
          </a:xfrm>
          <a:prstGeom prst="line">
            <a:avLst/>
          </a:prstGeom>
          <a:ln w="15875">
            <a:solidFill>
              <a:srgbClr val="626F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3840480"/>
            <a:ext cx="2606040" cy="228600"/>
          </a:xfrm>
          <a:prstGeom prst="line">
            <a:avLst/>
          </a:prstGeom>
          <a:ln w="15875">
            <a:solidFill>
              <a:srgbClr val="626F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71600" y="4114800"/>
            <a:ext cx="4206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4114800"/>
            <a:ext cx="4206240" cy="310896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114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CONTENEDOR 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4988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Interfaz web del agente y del administrador (SPA servida por su propio contenedor).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14800"/>
            <a:ext cx="42062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9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114800"/>
            <a:ext cx="4206240" cy="310896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114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CONTENEDOR 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49884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API /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80060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Lógica de negocio: clientes, generación de documentos, firma electrónica, roles y trazabilidad.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26694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REST · 8080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86800" y="5257800"/>
            <a:ext cx="0" cy="347472"/>
          </a:xfrm>
          <a:prstGeom prst="line">
            <a:avLst/>
          </a:prstGeom>
          <a:ln w="15875">
            <a:solidFill>
              <a:srgbClr val="626F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83680" y="5623560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5623560"/>
            <a:ext cx="4206240" cy="310896"/>
          </a:xfrm>
          <a:prstGeom prst="rect">
            <a:avLst/>
          </a:prstGeom>
          <a:solidFill>
            <a:srgbClr val="E0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62356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CONTENEDOR 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0760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Base de 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6309360"/>
            <a:ext cx="3931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Motor relacional persistente: clientes, trámites, usuarios y auditoría.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659282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5432/TCP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5623560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A93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0200" y="5751576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2545"/>
                </a:solidFill>
                <a:latin typeface="Calibri"/>
              </a:rPr>
              <a:t>Plataforma de firma electrónica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606247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Servicio externo ya contratado por Easy Office · integración vía API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577840" y="6080760"/>
            <a:ext cx="1005840" cy="0"/>
          </a:xfrm>
          <a:prstGeom prst="line">
            <a:avLst/>
          </a:prstGeom>
          <a:ln w="15875">
            <a:solidFill>
              <a:srgbClr val="626F7D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50992" y="58064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26F7D"/>
                </a:solidFill>
                <a:latin typeface="Calibri"/>
              </a:rPr>
              <a:t>HTTPS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355080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26F7D"/>
                </a:solidFill>
                <a:latin typeface="Calibri"/>
              </a:rPr>
              <a:t>Cada bloque corre en su propio contenedor Docker: si el generador de documentos falla, el resto de la operación sigue disponible.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DECISIÓN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¿Por qué servidor local y contenedores independientes?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73152" cy="310896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221992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Costo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92608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Sin gasto recurrente de nube durante el desarrollo y validación del MVP: se ajusta al plazo y presupuesto académico.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9659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965960"/>
            <a:ext cx="73152" cy="310896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221992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Control de datos sensibles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92608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Datos de clientes de Easy Office (RUT, contratos) permanecen en infraestructura propia del cliente, sin salir a un tercero.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9659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1965960"/>
            <a:ext cx="73152" cy="310896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2221992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Simplicidad de despliegue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292608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Un servidor local reduce la configuración de red y accesos necesaria para validar el flujo de extremo a extremo.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9659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89136" y="1965960"/>
            <a:ext cx="73152" cy="310896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221992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Camino abierto a escalar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926080"/>
            <a:ext cx="22402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26F7D"/>
                </a:solidFill>
                <a:latin typeface="Calibri"/>
              </a:rPr>
              <a:t>La separación en contenedores independientes permite migrar a la nube más adelante sin rediseñar la arquitectura.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49240"/>
            <a:ext cx="11201400" cy="960120"/>
          </a:xfrm>
          <a:prstGeom prst="roundRect">
            <a:avLst>
              <a:gd name="adj" fmla="val 60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9C8C"/>
                </a:solidFill>
                <a:latin typeface="Calibri"/>
              </a:rPr>
              <a:t>NO es un único contenedor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Proxy, frontend, API y base de datos corren en contenedores separados (ver arquitectura, slide anterior): facilita mantenimiento y evita que la falla de un componente derribe toda la aplicación.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FORMA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Metodología: Scrum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Entregas incrementales por sprint, validadas directamente con Easy Office.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0116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5798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Diego Navarrete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237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9C8C"/>
                </a:solidFill>
                <a:latin typeface="Calibri"/>
              </a:rPr>
              <a:t>Product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Representa al cliente frente al equipo, prioriza el Product Backlog y valida que cada incremento cumpla lo acordado con Easy Office.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0116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2011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15798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Andrés Fernández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5237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9C8C"/>
                </a:solidFill>
                <a:latin typeface="Calibri"/>
              </a:rPr>
              <a:t>Scrum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15468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Facilita las ceremonias de cada sprint (planificación, revisión y cierre), remueve obstáculos y vela por que se respete el marco Scrum.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01168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2011680"/>
            <a:ext cx="3611880" cy="9144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15798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Dunkan Hernández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523744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49C8C"/>
                </a:solidFill>
                <a:latin typeface="Calibri"/>
              </a:rPr>
              <a:t>Developer · foco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54680"/>
            <a:ext cx="3154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F7D"/>
                </a:solidFill>
                <a:latin typeface="Calibri"/>
              </a:rPr>
              <a:t>Desarrolla junto al equipo y además define y ejecuta el plan de pruebas de cada incremento.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26F7D"/>
                </a:solidFill>
                <a:latin typeface="Calibri"/>
              </a:rPr>
              <a:t>Los tres integrantes son Developers del equipo Scrum; Dunkan concentra además el rol de QA/DBA.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CALENDARIO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Plan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18 semanas del período académico, en 3 fases y 4 sprints de desarrollo.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2048256" cy="777240"/>
          </a:xfrm>
          <a:prstGeom prst="roundRect">
            <a:avLst>
              <a:gd name="adj" fmla="val 6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7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1 · Definición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95143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S1 – S4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1874519"/>
            <a:ext cx="6665976" cy="777240"/>
          </a:xfrm>
          <a:prstGeom prst="roundRect">
            <a:avLst>
              <a:gd name="adj" fmla="val 6000"/>
            </a:avLst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984247"/>
            <a:ext cx="6446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2 · Desarrollo (4 sprints)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95143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S5 – S16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874519"/>
            <a:ext cx="2322576" cy="77724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1984247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Fase 3 · Cierre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295143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S17 – S18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880360"/>
            <a:ext cx="2697480" cy="548640"/>
          </a:xfrm>
          <a:prstGeom prst="roundRect">
            <a:avLst>
              <a:gd name="adj" fmla="val 6000"/>
            </a:avLst>
          </a:prstGeom>
          <a:solidFill>
            <a:srgbClr val="D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Sprint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09544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9C8C"/>
                </a:solidFill>
                <a:latin typeface="Calibri"/>
              </a:rPr>
              <a:t>S5–S7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9359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Mockups + módulo de clientes + backend 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029200"/>
            <a:ext cx="2331720" cy="12700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26F7D"/>
                </a:solidFill>
                <a:latin typeface="Calibri"/>
              </a:rPr>
              <a:t>Hito: base de datos de clientes operativa.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2" y="28803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64992" y="2880360"/>
            <a:ext cx="2697480" cy="548640"/>
          </a:xfrm>
          <a:prstGeom prst="roundRect">
            <a:avLst>
              <a:gd name="adj" fmla="val 6000"/>
            </a:avLst>
          </a:prstGeom>
          <a:solidFill>
            <a:srgbClr val="D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47872" y="2971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Sprint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47872" y="3209544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9C8C"/>
                </a:solidFill>
                <a:latin typeface="Calibri"/>
              </a:rPr>
              <a:t>S8–S10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359359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Contrato + integración de firma electrónica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47872" y="5029200"/>
            <a:ext cx="2331720" cy="12700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47872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26F7D"/>
                </a:solidFill>
                <a:latin typeface="Calibri"/>
              </a:rPr>
              <a:t>Hito: contrato firmable de extremo a extremo.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7064" y="28803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27064" y="2880360"/>
            <a:ext cx="2697480" cy="548640"/>
          </a:xfrm>
          <a:prstGeom prst="roundRect">
            <a:avLst>
              <a:gd name="adj" fmla="val 6000"/>
            </a:avLst>
          </a:prstGeom>
          <a:solidFill>
            <a:srgbClr val="D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2971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Sprint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3209544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9C8C"/>
                </a:solidFill>
                <a:latin typeface="Calibri"/>
              </a:rPr>
              <a:t>S11–S13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359359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Autorización de domicilio + roles y trazabilidad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9944" y="5029200"/>
            <a:ext cx="2331720" cy="12700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26F7D"/>
                </a:solidFill>
                <a:latin typeface="Calibri"/>
              </a:rPr>
              <a:t>Hito: acceso diferenciado agente/admin funcionando.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89136" y="2880360"/>
            <a:ext cx="26974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9136" y="2880360"/>
            <a:ext cx="2697480" cy="548640"/>
          </a:xfrm>
          <a:prstGeom prst="roundRect">
            <a:avLst>
              <a:gd name="adj" fmla="val 6000"/>
            </a:avLst>
          </a:prstGeom>
          <a:solidFill>
            <a:srgbClr val="DD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29718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2545"/>
                </a:solidFill>
                <a:latin typeface="Calibri"/>
              </a:rPr>
              <a:t>Sprint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3209544"/>
            <a:ext cx="2331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9C8C"/>
                </a:solidFill>
                <a:latin typeface="Calibri"/>
              </a:rPr>
              <a:t>S14–S16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2016" y="3593592"/>
            <a:ext cx="2331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2933"/>
                </a:solidFill>
                <a:latin typeface="Calibri"/>
              </a:rPr>
              <a:t>Pruebas + Docker + manual técnico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72016" y="5029200"/>
            <a:ext cx="2331720" cy="12700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2016" y="5166360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26F7D"/>
                </a:solidFill>
                <a:latin typeface="Calibri"/>
              </a:rPr>
              <a:t>Hito: MVP desplegado y documentado.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VIABILIDAD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2545"/>
                </a:solidFill>
                <a:latin typeface="Calibri"/>
              </a:rPr>
              <a:t>Factibilidad y gestión de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26F7D"/>
                </a:solidFill>
                <a:latin typeface="Calibri"/>
              </a:rPr>
              <a:t>El proyecto es viable dentro del plazo del ramo, con riesgos identificados y mitigados.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26F7D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377440" cy="98755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37744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965960"/>
            <a:ext cx="87325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3"/>
                </a:solidFill>
                <a:latin typeface="Calibri"/>
              </a:rPr>
              <a:t>18 semanas del período académico, alineadas al alcance acotado del MVP (2 documentos priorizados).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26664"/>
            <a:ext cx="2377440" cy="98755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26664"/>
            <a:ext cx="237744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026664"/>
            <a:ext cx="87325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026664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3"/>
                </a:solidFill>
                <a:latin typeface="Calibri"/>
              </a:rPr>
              <a:t>Entorno de desarrollo y equipo dedicado para el despliegue local en contenedores independientes; acceso a la firma electrónica del cliente.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87368"/>
            <a:ext cx="2377440" cy="98755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87368"/>
            <a:ext cx="237744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Facilitador clave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087368"/>
            <a:ext cx="87325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4087368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3"/>
                </a:solidFill>
                <a:latin typeface="Calibri"/>
              </a:rPr>
              <a:t>Easy Office ya cuenta con proveedor de firma electrónica con integración vía API disponible: reduce incertidumbre técnica.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48072"/>
            <a:ext cx="2377440" cy="987552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148072"/>
            <a:ext cx="237744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Riesgo principal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5148072"/>
            <a:ext cx="873252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5148072"/>
            <a:ext cx="8229600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F2933"/>
                </a:solidFill>
                <a:latin typeface="Calibri"/>
              </a:rPr>
              <a:t>El cliente maneja poca tecnología. Mitigación: reuniones periódicas de seguimiento y una interfaz simple y guiada.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12064"/>
            <a:ext cx="292608" cy="54864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023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49C8C"/>
                </a:solidFill>
                <a:latin typeface="Calibri"/>
              </a:rPr>
              <a:t>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¿Qué hace diferente a esta solución?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B8C4CE"/>
                </a:solidFill>
                <a:latin typeface="Calibri"/>
              </a:rPr>
              <a:t>CRM Easy Office  ·  Proyecto Capstone PTY4614-001V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B8C4CE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952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73152" cy="141732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751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9C8C"/>
                </a:solidFill>
                <a:latin typeface="Calibri"/>
              </a:rPr>
              <a:t>Problema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5915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D8E1E8"/>
                </a:solidFill>
                <a:latin typeface="Calibri"/>
              </a:rPr>
              <a:t>Hoy la gestión de contrato y autorización se hace 100% a mano, sin trazabilidad de qué se hizo ni cuándo, y sin una base de clientes centralizada.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8328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73152" cy="141732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295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9C8C"/>
                </a:solidFill>
                <a:latin typeface="Calibri"/>
              </a:rPr>
              <a:t>Diferencial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1363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D8E1E8"/>
                </a:solidFill>
                <a:latin typeface="Calibri"/>
              </a:rPr>
              <a:t>Los proveedores del rubro suelen resolver un solo trámite de forma aislada. Easy Office ya ofrece varios servicios relacionados: el CRM los centraliza en un mismo flujo y una misma base de datos por cliente.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37760"/>
            <a:ext cx="11201400" cy="1417320"/>
          </a:xfrm>
          <a:prstGeom prst="roundRect">
            <a:avLst>
              <a:gd name="adj" fmla="val 5000"/>
            </a:avLst>
          </a:prstGeom>
          <a:solidFill>
            <a:srgbClr val="16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937760"/>
            <a:ext cx="73152" cy="141732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840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49C8C"/>
                </a:solidFill>
                <a:latin typeface="Calibri"/>
              </a:rPr>
              <a:t>Valor entregado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6811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D8E1E8"/>
                </a:solidFill>
                <a:latin typeface="Calibri"/>
              </a:rPr>
              <a:t>Documento firmado en minutos en vez de gestión manual; trazabilidad de cada trámite; datos centralizados; y una base de roles y clientes lista para escalar a los demás documentos manuales.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Automatizar hoy para escalar mañana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6E0"/>
                </a:solidFill>
                <a:latin typeface="Calibri"/>
              </a:rPr>
              <a:t>Gracias por su atención — preguntas y comentarios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1463040" cy="27940"/>
          </a:xfrm>
          <a:prstGeom prst="rect">
            <a:avLst/>
          </a:prstGeom>
          <a:solidFill>
            <a:srgbClr val="14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Diego Navarrete  ·  Andrés Fernández  ·  Dunkan Hernández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ABBA"/>
                </a:solidFill>
                <a:latin typeface="Calibri"/>
              </a:rPr>
              <a:t>CRM Easy Office  ·  Capstone PTY4614-001V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